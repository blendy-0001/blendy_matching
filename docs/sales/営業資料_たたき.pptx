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</p:sldIdLst>
  <p:sldSz cx="9144000" cy="51435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E276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645920"/>
            <a:ext cx="8229600" cy="9144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4800" b="1">
                <a:solidFill>
                  <a:srgbClr val="CADCFC"/>
                </a:solidFill>
              </a:defRPr>
            </a:pPr>
            <a:r>
              <a:t>協業マッチングシステム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2468880"/>
            <a:ext cx="822960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2000" b="0">
                <a:solidFill>
                  <a:srgbClr val="CADCFC"/>
                </a:solidFill>
              </a:defRPr>
            </a:pPr>
            <a:r>
              <a:t>最適なパートナーシップで、事業を拡大させる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4114800"/>
            <a:ext cx="8229600" cy="365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600" b="0">
                <a:solidFill>
                  <a:srgbClr val="CADCFC"/>
                </a:solidFill>
              </a:defRPr>
            </a:pPr>
            <a:r>
              <a:t>Blendy Inc.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1E2761"/>
                </a:solidFill>
              </a:defRPr>
            </a:pPr>
            <a:r>
              <a:t>現状の課題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1097280"/>
            <a:ext cx="8229600" cy="914400"/>
          </a:xfrm>
          <a:prstGeom prst="rect">
            <a:avLst/>
          </a:prstGeom>
          <a:solidFill>
            <a:srgbClr val="F5F5F5"/>
          </a:solidFill>
          <a:ln w="25400">
            <a:solidFill>
              <a:srgbClr val="FF6B6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188720"/>
            <a:ext cx="76809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FF6B6B"/>
                </a:solidFill>
              </a:defRPr>
            </a:pPr>
            <a:r>
              <a:t>営業効率が低い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508760"/>
            <a:ext cx="76809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333333"/>
                </a:solidFill>
              </a:defRPr>
            </a:pPr>
            <a:r>
              <a:t>営業対象を見つけるのに時間がかかる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2148839"/>
            <a:ext cx="8229600" cy="914400"/>
          </a:xfrm>
          <a:prstGeom prst="rect">
            <a:avLst/>
          </a:prstGeom>
          <a:solidFill>
            <a:srgbClr val="F5F5F5"/>
          </a:solidFill>
          <a:ln w="25400">
            <a:solidFill>
              <a:srgbClr val="FF6B6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31520" y="2240279"/>
            <a:ext cx="76809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FF6B6B"/>
                </a:solidFill>
              </a:defRPr>
            </a:pPr>
            <a:r>
              <a:t>リード獲得が困難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2560320"/>
            <a:ext cx="76809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333333"/>
                </a:solidFill>
              </a:defRPr>
            </a:pPr>
            <a:r>
              <a:t>新規顧客へのアプローチ方法が限定的</a:t>
            </a:r>
          </a:p>
        </p:txBody>
      </p:sp>
      <p:sp>
        <p:nvSpPr>
          <p:cNvPr id="9" name="Rectangle 8"/>
          <p:cNvSpPr/>
          <p:nvPr/>
        </p:nvSpPr>
        <p:spPr>
          <a:xfrm>
            <a:off x="457200" y="3200400"/>
            <a:ext cx="8229600" cy="914400"/>
          </a:xfrm>
          <a:prstGeom prst="rect">
            <a:avLst/>
          </a:prstGeom>
          <a:solidFill>
            <a:srgbClr val="F5F5F5"/>
          </a:solidFill>
          <a:ln w="25400">
            <a:solidFill>
              <a:srgbClr val="FF6B6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31520" y="3291840"/>
            <a:ext cx="76809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FF6B6B"/>
                </a:solidFill>
              </a:defRPr>
            </a:pPr>
            <a:r>
              <a:t>相性の悪いマッチング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31520" y="3611880"/>
            <a:ext cx="76809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333333"/>
                </a:solidFill>
              </a:defRPr>
            </a:pPr>
            <a:r>
              <a:t>適切でないパートナーとの提携により失敗のリスク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1E2761"/>
                </a:solidFill>
              </a:defRPr>
            </a:pPr>
            <a:r>
              <a:t>Blendy の解決策</a:t>
            </a:r>
          </a:p>
        </p:txBody>
      </p:sp>
      <p:sp>
        <p:nvSpPr>
          <p:cNvPr id="3" name="Rectangle 2"/>
          <p:cNvSpPr/>
          <p:nvPr/>
        </p:nvSpPr>
        <p:spPr>
          <a:xfrm>
            <a:off x="1005840" y="1097280"/>
            <a:ext cx="914400" cy="914400"/>
          </a:xfrm>
          <a:prstGeom prst="rect">
            <a:avLst/>
          </a:prstGeom>
          <a:solidFill>
            <a:srgbClr val="CADCFC"/>
          </a:solidFill>
          <a:ln w="25400">
            <a:solidFill>
              <a:srgbClr val="1E276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05840" y="1097280"/>
            <a:ext cx="914400" cy="9144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2800" b="0">
                <a:solidFill>
                  <a:srgbClr val="1E2761"/>
                </a:solidFill>
              </a:defRPr>
            </a:pPr>
            <a:r>
              <a:t>●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2148840"/>
            <a:ext cx="2743200" cy="365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400" b="1">
                <a:solidFill>
                  <a:srgbClr val="1E2761"/>
                </a:solidFill>
              </a:defRPr>
            </a:pPr>
            <a:r>
              <a:t>AI マッチング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2560320"/>
            <a:ext cx="2743200" cy="10972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100" b="0">
                <a:solidFill>
                  <a:srgbClr val="333333"/>
                </a:solidFill>
              </a:defRPr>
            </a:pPr>
            <a:r>
              <a:t>複数の評価軸で最適なパートナーを自動選定</a:t>
            </a:r>
          </a:p>
        </p:txBody>
      </p:sp>
      <p:sp>
        <p:nvSpPr>
          <p:cNvPr id="7" name="Rectangle 6"/>
          <p:cNvSpPr/>
          <p:nvPr/>
        </p:nvSpPr>
        <p:spPr>
          <a:xfrm>
            <a:off x="3931920" y="1097280"/>
            <a:ext cx="914400" cy="914400"/>
          </a:xfrm>
          <a:prstGeom prst="rect">
            <a:avLst/>
          </a:prstGeom>
          <a:solidFill>
            <a:srgbClr val="CADCFC"/>
          </a:solidFill>
          <a:ln w="25400">
            <a:solidFill>
              <a:srgbClr val="1E276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931920" y="1097280"/>
            <a:ext cx="914400" cy="9144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2800" b="0">
                <a:solidFill>
                  <a:srgbClr val="1E2761"/>
                </a:solidFill>
              </a:defRPr>
            </a:pPr>
            <a:r>
              <a:t>●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383280" y="2148840"/>
            <a:ext cx="2743200" cy="365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400" b="1">
                <a:solidFill>
                  <a:srgbClr val="1E2761"/>
                </a:solidFill>
              </a:defRPr>
            </a:pPr>
            <a:r>
              <a:t>時間削減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383280" y="2560320"/>
            <a:ext cx="2743200" cy="10972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100" b="0">
                <a:solidFill>
                  <a:srgbClr val="333333"/>
                </a:solidFill>
              </a:defRPr>
            </a:pPr>
            <a:r>
              <a:t>営業活動の準備時間を 80% 削減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858000" y="1097280"/>
            <a:ext cx="914400" cy="914400"/>
          </a:xfrm>
          <a:prstGeom prst="rect">
            <a:avLst/>
          </a:prstGeom>
          <a:solidFill>
            <a:srgbClr val="CADCFC"/>
          </a:solidFill>
          <a:ln w="25400">
            <a:solidFill>
              <a:srgbClr val="1E276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858000" y="1097280"/>
            <a:ext cx="914400" cy="9144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2800" b="0">
                <a:solidFill>
                  <a:srgbClr val="1E2761"/>
                </a:solidFill>
              </a:defRPr>
            </a:pPr>
            <a:r>
              <a:t>●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309360" y="2148840"/>
            <a:ext cx="2743200" cy="365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400" b="1">
                <a:solidFill>
                  <a:srgbClr val="1E2761"/>
                </a:solidFill>
              </a:defRPr>
            </a:pPr>
            <a:r>
              <a:t>成功率向上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309360" y="2560320"/>
            <a:ext cx="2743200" cy="10972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100" b="0">
                <a:solidFill>
                  <a:srgbClr val="333333"/>
                </a:solidFill>
              </a:defRPr>
            </a:pPr>
            <a:r>
              <a:t>相性スコアに基づいた信頼できるマッチング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1E2761"/>
                </a:solidFill>
              </a:defRPr>
            </a:pPr>
            <a:r>
              <a:t>ビジネスモデル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914400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FF6B6B"/>
                </a:solidFill>
              </a:defRPr>
            </a:pPr>
            <a:r>
              <a:t>成果報酬型（紹介される側のみ支払い）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463040"/>
            <a:ext cx="8229600" cy="594360"/>
          </a:xfrm>
          <a:prstGeom prst="rect">
            <a:avLst/>
          </a:prstGeom>
          <a:solidFill>
            <a:srgbClr val="F0F4FF"/>
          </a:solidFill>
          <a:ln w="12700">
            <a:solidFill>
              <a:srgbClr val="CADCF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1536192"/>
            <a:ext cx="36576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1E2761"/>
                </a:solidFill>
              </a:defRPr>
            </a:pPr>
            <a:r>
              <a:t>性格マッチング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0" y="1536192"/>
            <a:ext cx="32004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400" b="1">
                <a:solidFill>
                  <a:srgbClr val="FF6B6B"/>
                </a:solidFill>
              </a:defRPr>
            </a:pPr>
            <a:r>
              <a:t>¥5,000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1810512"/>
            <a:ext cx="7498079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666666"/>
                </a:solidFill>
              </a:defRPr>
            </a:pPr>
            <a:r>
              <a:t>スキルセット相互補完なし</a:t>
            </a:r>
          </a:p>
        </p:txBody>
      </p:sp>
      <p:sp>
        <p:nvSpPr>
          <p:cNvPr id="8" name="Rectangle 7"/>
          <p:cNvSpPr/>
          <p:nvPr/>
        </p:nvSpPr>
        <p:spPr>
          <a:xfrm>
            <a:off x="457200" y="2148840"/>
            <a:ext cx="8229600" cy="594360"/>
          </a:xfrm>
          <a:prstGeom prst="rect">
            <a:avLst/>
          </a:prstGeom>
          <a:solidFill>
            <a:srgbClr val="F0F4FF"/>
          </a:solidFill>
          <a:ln w="12700">
            <a:solidFill>
              <a:srgbClr val="CADCF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31520" y="2221992"/>
            <a:ext cx="36576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1E2761"/>
                </a:solidFill>
              </a:defRPr>
            </a:pPr>
            <a:r>
              <a:t>業種 + 性格マッチング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029200" y="2221992"/>
            <a:ext cx="32004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400" b="1">
                <a:solidFill>
                  <a:srgbClr val="FF6B6B"/>
                </a:solidFill>
              </a:defRPr>
            </a:pPr>
            <a:r>
              <a:t>¥10,000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31520" y="2496312"/>
            <a:ext cx="7498079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666666"/>
                </a:solidFill>
              </a:defRPr>
            </a:pPr>
            <a:r>
              <a:t>スキルセット相互補完あり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57200" y="2834640"/>
            <a:ext cx="8229600" cy="594360"/>
          </a:xfrm>
          <a:prstGeom prst="rect">
            <a:avLst/>
          </a:prstGeom>
          <a:solidFill>
            <a:srgbClr val="F0F4FF"/>
          </a:solidFill>
          <a:ln w="12700">
            <a:solidFill>
              <a:srgbClr val="CADCF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31520" y="2907792"/>
            <a:ext cx="36576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1E2761"/>
                </a:solidFill>
              </a:defRPr>
            </a:pPr>
            <a:r>
              <a:t>1商談（成約可能性高）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029200" y="2907792"/>
            <a:ext cx="32004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400" b="1">
                <a:solidFill>
                  <a:srgbClr val="FF6B6B"/>
                </a:solidFill>
              </a:defRPr>
            </a:pPr>
            <a:r>
              <a:t>¥25,000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31520" y="3182112"/>
            <a:ext cx="7498079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666666"/>
                </a:solidFill>
              </a:defRPr>
            </a:pPr>
            <a:r>
              <a:t>3組セット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1E2761"/>
                </a:solidFill>
              </a:defRPr>
            </a:pPr>
            <a:r>
              <a:t>導入実績</a:t>
            </a:r>
          </a:p>
        </p:txBody>
      </p:sp>
      <p:sp>
        <p:nvSpPr>
          <p:cNvPr id="3" name="Rectangle 2"/>
          <p:cNvSpPr/>
          <p:nvPr/>
        </p:nvSpPr>
        <p:spPr>
          <a:xfrm>
            <a:off x="1371600" y="1188720"/>
            <a:ext cx="2286000" cy="2286000"/>
          </a:xfrm>
          <a:prstGeom prst="rect">
            <a:avLst/>
          </a:prstGeom>
          <a:solidFill>
            <a:srgbClr val="1E2761"/>
          </a:solidFill>
          <a:ln>
            <a:solidFill>
              <a:srgbClr val="1E276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5200" b="1">
                <a:solidFill>
                  <a:srgbClr val="FFFFFF"/>
                </a:solidFill>
              </a:defRPr>
            </a:pPr>
            <a:r>
              <a:t>13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371600" y="2651760"/>
            <a:ext cx="228600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200" b="1">
                <a:solidFill>
                  <a:srgbClr val="1E2761"/>
                </a:solidFill>
              </a:defRPr>
            </a:pPr>
            <a:r>
              <a:t>登録</a:t>
            </a:r>
          </a:p>
          <a:p>
            <a:r>
              <a:t>メンバー</a:t>
            </a:r>
          </a:p>
        </p:txBody>
      </p:sp>
      <p:sp>
        <p:nvSpPr>
          <p:cNvPr id="5" name="Rectangle 4"/>
          <p:cNvSpPr/>
          <p:nvPr/>
        </p:nvSpPr>
        <p:spPr>
          <a:xfrm>
            <a:off x="4114800" y="1188720"/>
            <a:ext cx="2286000" cy="2286000"/>
          </a:xfrm>
          <a:prstGeom prst="rect">
            <a:avLst/>
          </a:prstGeom>
          <a:solidFill>
            <a:srgbClr val="FF6B6B"/>
          </a:solidFill>
          <a:ln>
            <a:solidFill>
              <a:srgbClr val="FF6B6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5200" b="1">
                <a:solidFill>
                  <a:srgbClr val="FFFFFF"/>
                </a:solidFill>
              </a:defRPr>
            </a:pPr>
            <a:r>
              <a:t>60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114800" y="2651760"/>
            <a:ext cx="228600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200" b="1">
                <a:solidFill>
                  <a:srgbClr val="FF6B6B"/>
                </a:solidFill>
              </a:defRPr>
            </a:pPr>
            <a:r>
              <a:t>マッチング</a:t>
            </a:r>
          </a:p>
          <a:p>
            <a:r>
              <a:t>可能組数</a:t>
            </a:r>
          </a:p>
        </p:txBody>
      </p:sp>
      <p:sp>
        <p:nvSpPr>
          <p:cNvPr id="7" name="Rectangle 6"/>
          <p:cNvSpPr/>
          <p:nvPr/>
        </p:nvSpPr>
        <p:spPr>
          <a:xfrm>
            <a:off x="6858000" y="1188720"/>
            <a:ext cx="2286000" cy="2286000"/>
          </a:xfrm>
          <a:prstGeom prst="rect">
            <a:avLst/>
          </a:prstGeom>
          <a:solidFill>
            <a:srgbClr val="CADCFC"/>
          </a:solidFill>
          <a:ln>
            <a:solidFill>
              <a:srgbClr val="CADCF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5200" b="1">
                <a:solidFill>
                  <a:srgbClr val="1E2761"/>
                </a:solidFill>
              </a:defRPr>
            </a:pPr>
            <a:r>
              <a:t>18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858000" y="2651760"/>
            <a:ext cx="228600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200" b="1">
                <a:solidFill>
                  <a:srgbClr val="1E2761"/>
                </a:solidFill>
              </a:defRPr>
            </a:pPr>
            <a:r>
              <a:t>累計マッチング</a:t>
            </a:r>
          </a:p>
          <a:p>
            <a:r>
              <a:t>完了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1E2761"/>
                </a:solidFill>
              </a:defRPr>
            </a:pPr>
            <a:r>
              <a:t>簡単 3ステップ</a:t>
            </a:r>
          </a:p>
        </p:txBody>
      </p:sp>
      <p:sp>
        <p:nvSpPr>
          <p:cNvPr id="3" name="Rectangle 2"/>
          <p:cNvSpPr/>
          <p:nvPr/>
        </p:nvSpPr>
        <p:spPr>
          <a:xfrm>
            <a:off x="1554480" y="1188720"/>
            <a:ext cx="548640" cy="548640"/>
          </a:xfrm>
          <a:prstGeom prst="rect">
            <a:avLst/>
          </a:prstGeom>
          <a:solidFill>
            <a:srgbClr val="FF6B6B"/>
          </a:solidFill>
          <a:ln>
            <a:solidFill>
              <a:srgbClr val="FF6B6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2800" b="1">
                <a:solidFill>
                  <a:srgbClr val="FFFFFF"/>
                </a:solidFill>
              </a:defRPr>
            </a:pPr>
            <a:r>
              <a:t>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920240"/>
            <a:ext cx="2377440" cy="320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400" b="1">
                <a:solidFill>
                  <a:srgbClr val="1E2761"/>
                </a:solidFill>
              </a:defRPr>
            </a:pPr>
            <a:r>
              <a:t>登録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2286000"/>
            <a:ext cx="2377440" cy="9144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100" b="0">
                <a:solidFill>
                  <a:srgbClr val="333333"/>
                </a:solidFill>
              </a:defRPr>
            </a:pPr>
            <a:r>
              <a:t>フォームに</a:t>
            </a:r>
          </a:p>
          <a:p>
            <a:r>
              <a:t>企業情報を入力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200400" y="1371600"/>
            <a:ext cx="274320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800" b="0">
                <a:solidFill>
                  <a:srgbClr val="FF6B6B"/>
                </a:solidFill>
              </a:defRPr>
            </a:pPr>
            <a:r>
              <a:t>→</a:t>
            </a:r>
          </a:p>
        </p:txBody>
      </p:sp>
      <p:sp>
        <p:nvSpPr>
          <p:cNvPr id="7" name="Rectangle 6"/>
          <p:cNvSpPr/>
          <p:nvPr/>
        </p:nvSpPr>
        <p:spPr>
          <a:xfrm>
            <a:off x="4297680" y="1188720"/>
            <a:ext cx="548640" cy="548640"/>
          </a:xfrm>
          <a:prstGeom prst="rect">
            <a:avLst/>
          </a:prstGeom>
          <a:solidFill>
            <a:srgbClr val="FF6B6B"/>
          </a:solidFill>
          <a:ln>
            <a:solidFill>
              <a:srgbClr val="FF6B6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2800" b="1">
                <a:solidFill>
                  <a:srgbClr val="FFFFFF"/>
                </a:solidFill>
              </a:defRPr>
            </a:pPr>
            <a:r>
              <a:t>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474720" y="1920240"/>
            <a:ext cx="2377440" cy="320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400" b="1">
                <a:solidFill>
                  <a:srgbClr val="1E2761"/>
                </a:solidFill>
              </a:defRPr>
            </a:pPr>
            <a:r>
              <a:t>マッチング実行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474720" y="2286000"/>
            <a:ext cx="2377440" cy="9144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100" b="0">
                <a:solidFill>
                  <a:srgbClr val="333333"/>
                </a:solidFill>
              </a:defRPr>
            </a:pPr>
            <a:r>
              <a:t>AI が最適な</a:t>
            </a:r>
          </a:p>
          <a:p>
            <a:r>
              <a:t>パートナーを自動選定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943600" y="1371600"/>
            <a:ext cx="274320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800" b="0">
                <a:solidFill>
                  <a:srgbClr val="FF6B6B"/>
                </a:solidFill>
              </a:defRPr>
            </a:pPr>
            <a:r>
              <a:t>→</a:t>
            </a:r>
          </a:p>
        </p:txBody>
      </p:sp>
      <p:sp>
        <p:nvSpPr>
          <p:cNvPr id="11" name="Rectangle 10"/>
          <p:cNvSpPr/>
          <p:nvPr/>
        </p:nvSpPr>
        <p:spPr>
          <a:xfrm>
            <a:off x="7040880" y="1188720"/>
            <a:ext cx="548640" cy="548640"/>
          </a:xfrm>
          <a:prstGeom prst="rect">
            <a:avLst/>
          </a:prstGeom>
          <a:solidFill>
            <a:srgbClr val="FF6B6B"/>
          </a:solidFill>
          <a:ln>
            <a:solidFill>
              <a:srgbClr val="FF6B6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2800" b="1">
                <a:solidFill>
                  <a:srgbClr val="FFFFFF"/>
                </a:solidFill>
              </a:defRPr>
            </a:pPr>
            <a:r>
              <a:t>3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217920" y="1920240"/>
            <a:ext cx="2377440" cy="320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400" b="1">
                <a:solidFill>
                  <a:srgbClr val="1E2761"/>
                </a:solidFill>
              </a:defRPr>
            </a:pPr>
            <a:r>
              <a:t>紹介・成約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217920" y="2286000"/>
            <a:ext cx="2377440" cy="9144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100" b="0">
                <a:solidFill>
                  <a:srgbClr val="333333"/>
                </a:solidFill>
              </a:defRPr>
            </a:pPr>
            <a:r>
              <a:t>Blendy が</a:t>
            </a:r>
          </a:p>
          <a:p>
            <a:r>
              <a:t>契約までサポート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E276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371600"/>
            <a:ext cx="822960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4000" b="1">
                <a:solidFill>
                  <a:srgbClr val="CADCFC"/>
                </a:solidFill>
              </a:defRPr>
            </a:pPr>
            <a:r>
              <a:t>Blendy で実現する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2011680"/>
            <a:ext cx="822960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4000" b="1">
                <a:solidFill>
                  <a:srgbClr val="FFFFFF"/>
                </a:solidFill>
              </a:defRPr>
            </a:pPr>
            <a:r>
              <a:t>最適なパートナーシップ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3200400"/>
            <a:ext cx="8229600" cy="365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600" b="0">
                <a:solidFill>
                  <a:srgbClr val="CADCFC"/>
                </a:solidFill>
              </a:defRPr>
            </a:pPr>
            <a:r>
              <a:t>お気軽にお問い合わせください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3657600"/>
            <a:ext cx="8229600" cy="365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400" b="0">
                <a:solidFill>
                  <a:srgbClr val="FFFFFF"/>
                </a:solidFill>
              </a:defRPr>
            </a:pPr>
            <a:r>
              <a:t>contact@blendyinc.com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